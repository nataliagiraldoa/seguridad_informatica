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124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El ecosistema de la derecha es el estado inicial: la mayoría del software existe sin nombre ni estado conocido.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inventario la organización no puede saber con precisión qué software tiene, cuál está vulnerable y cuál debería estar ejecutándose.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propósito del Control 2 es una transformación continua: el mismo conjunto de software pasa de disperso a estructurado, y al final el sistema decide qué puede ejecutarse.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IG1 y IG2 no son dos listas: son la misma infraestructura con un estrato añadido. IG2 suma automatización y prevención. La 2.7 pertenece a IG3.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operaciones: 2.1 crea el inventario y todo lo demás depende espacialmente de él. 2.2 juzga confianza, 2.3 corrige, 2.4 observa, 2.5 y 2.6 controlan la ejecución.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exige cada salvaguarda y su correspondencia en NIST CSF 2.0. 2.4 y 2.6 no tienen subcategoría directa asignada en el mapeo CIS v8.1.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Correspondencias documentadas del mapeo CIS v8.1 a NIST CSF 2.0. 2.4 y 2.6 terminan en vía muerta: no tienen subcategoría directa asignada.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 exige saber qué software existe: un registro con atributos mínimos por activo, revisado periódicamente. Correspondencia: ID.AM-02.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de cumplimiento: agentes en endpoints y servidores, consolidación en GLPI, inventario central y conciliación documentada. osquery permite consultas puntuales y CPE normaliza nombres y versiones.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frontera de ejecución: cada binario que intenta correr se evalúa contra la línea base de 2.1 y 2.2. Correspondencia: PR.PS-05.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allowlisting se despliega como un pipeline: primero se observa en audit mode, se ajusta con la evidencia y solo entonces se aplica enforcement por grupos.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casos reales del sistema muestran las salvaguardas actuando juntas sobre el mismo parque.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los mismos elementos de la portada, ahora identificados, inventariados, autorizados y controlados.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del contenido técnico. El mapeo de junio de 2024 es el que sustenta que 2.4 y 2.6 no tengan subcategoría directa asignada.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Declaración del uso de IA: herramienta utilizada y para qué se usó.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58842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 CONTROLS v8.1 / CONTROL 02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2476500"/>
            <a:ext cx="7848600" cy="2986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182"/>
              </a:lnSpc>
              <a:buNone/>
            </a:pPr>
            <a:r>
              <a:rPr lang="en-US" sz="12900" b="1" kern="0" spc="-58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Control 2</a:t>
            </a:r>
            <a:endParaRPr lang="en-US" sz="12900" dirty="0"/>
          </a:p>
        </p:txBody>
      </p:sp>
      <p:sp>
        <p:nvSpPr>
          <p:cNvPr id="5" name="Text 2"/>
          <p:cNvSpPr/>
          <p:nvPr/>
        </p:nvSpPr>
        <p:spPr>
          <a:xfrm>
            <a:off x="914400" y="5958780"/>
            <a:ext cx="6867525" cy="105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815"/>
              </a:lnSpc>
              <a:buNone/>
            </a:pPr>
            <a:r>
              <a:rPr lang="en-US" sz="3450" kern="0" spc="-52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y Control de Activos de Software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914400" y="8305800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Relación con NIST CSF 2.0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9220200"/>
            <a:ext cx="78003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software desconocido al software controlado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610850" y="2628900"/>
            <a:ext cx="266700" cy="266700"/>
          </a:xfrm>
          <a:prstGeom prst="rect">
            <a:avLst/>
          </a:prstGeom>
          <a:ln w="9525">
            <a:solidFill>
              <a:srgbClr val="98A1A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12192000" y="2076450"/>
            <a:ext cx="76200" cy="7620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13354050" y="3143250"/>
            <a:ext cx="133350" cy="1333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11239500" y="3752850"/>
            <a:ext cx="85725" cy="8572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14287500" y="2362200"/>
            <a:ext cx="95250" cy="952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15640050" y="2857500"/>
            <a:ext cx="190500" cy="190500"/>
          </a:xfrm>
          <a:prstGeom prst="rect">
            <a:avLst/>
          </a:prstGeom>
          <a:ln w="9525">
            <a:solidFill>
              <a:srgbClr val="C2C9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16535400" y="3905250"/>
            <a:ext cx="76200" cy="7620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10191750" y="4857750"/>
            <a:ext cx="114300" cy="11430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12668250" y="4572000"/>
            <a:ext cx="209550" cy="2095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13220700" y="4286250"/>
            <a:ext cx="66675" cy="66675"/>
          </a:xfrm>
          <a:prstGeom prst="rect">
            <a:avLst/>
          </a:prstGeom>
          <a:solidFill>
            <a:srgbClr val="1F8A5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14859000" y="5067300"/>
            <a:ext cx="95250" cy="952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16173450" y="5505450"/>
            <a:ext cx="85725" cy="8572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10725150" y="5867400"/>
            <a:ext cx="190500" cy="190500"/>
          </a:xfrm>
          <a:prstGeom prst="rect">
            <a:avLst/>
          </a:prstGeom>
          <a:solidFill>
            <a:srgbClr val="C98B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11849100" y="6477000"/>
            <a:ext cx="76200" cy="7620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13620750" y="6191250"/>
            <a:ext cx="114300" cy="11430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15201900" y="6858000"/>
            <a:ext cx="85725" cy="8572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16764000" y="6477000"/>
            <a:ext cx="66675" cy="6667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14287500" y="7505700"/>
            <a:ext cx="209550" cy="209550"/>
          </a:xfrm>
          <a:prstGeom prst="rect">
            <a:avLst/>
          </a:prstGeom>
          <a:solidFill>
            <a:srgbClr val="D9604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11334750" y="7810500"/>
            <a:ext cx="95250" cy="952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12668250" y="8229600"/>
            <a:ext cx="76200" cy="7620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15906750" y="8001000"/>
            <a:ext cx="152400" cy="152400"/>
          </a:xfrm>
          <a:prstGeom prst="rect">
            <a:avLst/>
          </a:prstGeom>
          <a:ln w="9525">
            <a:solidFill>
              <a:srgbClr val="C2C9C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10382250" y="3143250"/>
            <a:ext cx="57150" cy="571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7"/>
          <p:cNvSpPr/>
          <p:nvPr/>
        </p:nvSpPr>
        <p:spPr>
          <a:xfrm>
            <a:off x="15144750" y="3714750"/>
            <a:ext cx="57150" cy="571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10877550" y="7200900"/>
            <a:ext cx="57150" cy="571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16935450" y="4857750"/>
            <a:ext cx="57150" cy="571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12153900" y="26289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4478000" y="4210050"/>
            <a:ext cx="18609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AUTHORIZED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1525250" y="5981700"/>
            <a:ext cx="20470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C98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UNSUPPORTED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5392400" y="75057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D96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EL PROBLEMA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52575"/>
            <a:ext cx="10791825" cy="20130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944"/>
              </a:lnSpc>
              <a:buNone/>
            </a:pPr>
            <a:r>
              <a:rPr lang="en-US" sz="8100" b="1" kern="0" spc="-283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software existe realmente?</a:t>
            </a:r>
            <a:endParaRPr lang="en-US" sz="8100" dirty="0"/>
          </a:p>
        </p:txBody>
      </p:sp>
      <p:sp>
        <p:nvSpPr>
          <p:cNvPr id="5" name="Shape 2"/>
          <p:cNvSpPr/>
          <p:nvPr/>
        </p:nvSpPr>
        <p:spPr>
          <a:xfrm>
            <a:off x="1257300" y="3505200"/>
            <a:ext cx="95250" cy="9525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2552700" y="4057650"/>
            <a:ext cx="66675" cy="666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3829050" y="3429000"/>
            <a:ext cx="228600" cy="2286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219700" y="4210050"/>
            <a:ext cx="85725" cy="8572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6610350" y="3581400"/>
            <a:ext cx="114300" cy="1143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7639050" y="4400550"/>
            <a:ext cx="66675" cy="666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8972550" y="3752850"/>
            <a:ext cx="190500" cy="190500"/>
          </a:xfrm>
          <a:prstGeom prst="rect">
            <a:avLst/>
          </a:prstGeom>
          <a:ln w="9525">
            <a:solidFill>
              <a:srgbClr val="9AA3A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10306050" y="4286250"/>
            <a:ext cx="76200" cy="762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11620500" y="3505200"/>
            <a:ext cx="104775" cy="1047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12934950" y="4133850"/>
            <a:ext cx="66675" cy="666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14478000" y="3333750"/>
            <a:ext cx="209550" cy="209550"/>
          </a:xfrm>
          <a:prstGeom prst="rect">
            <a:avLst/>
          </a:prstGeom>
          <a:solidFill>
            <a:srgbClr val="C98B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15773400" y="4191000"/>
            <a:ext cx="85725" cy="8572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16878300" y="3638550"/>
            <a:ext cx="114300" cy="1143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1657350" y="5181600"/>
            <a:ext cx="190500" cy="1905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3181350" y="5638800"/>
            <a:ext cx="76200" cy="762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4629150" y="5010150"/>
            <a:ext cx="133350" cy="13335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5867400" y="5715000"/>
            <a:ext cx="66675" cy="666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7315200" y="5257800"/>
            <a:ext cx="95250" cy="9525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8724900" y="5848350"/>
            <a:ext cx="85725" cy="8572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10668000" y="5524500"/>
            <a:ext cx="247650" cy="247650"/>
          </a:xfrm>
          <a:prstGeom prst="rect">
            <a:avLst/>
          </a:prstGeom>
          <a:solidFill>
            <a:srgbClr val="D9604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12230100" y="5105400"/>
            <a:ext cx="76200" cy="762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13582650" y="5772150"/>
            <a:ext cx="114300" cy="1143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14916150" y="5200650"/>
            <a:ext cx="66675" cy="666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16344900" y="5695950"/>
            <a:ext cx="190500" cy="190500"/>
          </a:xfrm>
          <a:prstGeom prst="rect">
            <a:avLst/>
          </a:prstGeom>
          <a:ln w="9525">
            <a:solidFill>
              <a:srgbClr val="9AA3A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1409700" y="7048500"/>
            <a:ext cx="76200" cy="762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7"/>
          <p:cNvSpPr/>
          <p:nvPr/>
        </p:nvSpPr>
        <p:spPr>
          <a:xfrm>
            <a:off x="2819400" y="7543800"/>
            <a:ext cx="114300" cy="1143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4248150" y="6934200"/>
            <a:ext cx="66675" cy="666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5676900" y="7620000"/>
            <a:ext cx="95250" cy="9525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0"/>
          <p:cNvSpPr/>
          <p:nvPr/>
        </p:nvSpPr>
        <p:spPr>
          <a:xfrm>
            <a:off x="7200900" y="7143750"/>
            <a:ext cx="228600" cy="228600"/>
          </a:xfrm>
          <a:prstGeom prst="rect">
            <a:avLst/>
          </a:prstGeom>
          <a:solidFill>
            <a:srgbClr val="C98B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1"/>
          <p:cNvSpPr/>
          <p:nvPr/>
        </p:nvSpPr>
        <p:spPr>
          <a:xfrm>
            <a:off x="8648700" y="7658100"/>
            <a:ext cx="76200" cy="762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32"/>
          <p:cNvSpPr/>
          <p:nvPr/>
        </p:nvSpPr>
        <p:spPr>
          <a:xfrm>
            <a:off x="10058400" y="6991350"/>
            <a:ext cx="133350" cy="13335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3"/>
          <p:cNvSpPr/>
          <p:nvPr/>
        </p:nvSpPr>
        <p:spPr>
          <a:xfrm>
            <a:off x="11544300" y="7581900"/>
            <a:ext cx="66675" cy="666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4"/>
          <p:cNvSpPr/>
          <p:nvPr/>
        </p:nvSpPr>
        <p:spPr>
          <a:xfrm>
            <a:off x="12992100" y="7067550"/>
            <a:ext cx="104775" cy="10477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5"/>
          <p:cNvSpPr/>
          <p:nvPr/>
        </p:nvSpPr>
        <p:spPr>
          <a:xfrm>
            <a:off x="14439900" y="7620000"/>
            <a:ext cx="85725" cy="85725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36"/>
          <p:cNvSpPr/>
          <p:nvPr/>
        </p:nvSpPr>
        <p:spPr>
          <a:xfrm>
            <a:off x="15963900" y="7029450"/>
            <a:ext cx="190500" cy="1905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7"/>
          <p:cNvSpPr/>
          <p:nvPr/>
        </p:nvSpPr>
        <p:spPr>
          <a:xfrm>
            <a:off x="17106900" y="7543800"/>
            <a:ext cx="76200" cy="76200"/>
          </a:xfrm>
          <a:prstGeom prst="rect">
            <a:avLst/>
          </a:prstGeom>
          <a:solidFill>
            <a:srgbClr val="B9C1C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8"/>
          <p:cNvSpPr/>
          <p:nvPr/>
        </p:nvSpPr>
        <p:spPr>
          <a:xfrm>
            <a:off x="2876550" y="4552950"/>
            <a:ext cx="37720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128.0 </a:t>
            </a:r>
            <a:r>
              <a:rPr lang="en-US" sz="1800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authorized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0953750" y="4267200"/>
            <a:ext cx="39228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teamviewer </a:t>
            </a:r>
            <a:r>
              <a:rPr lang="en-US" sz="1800" dirty="0">
                <a:solidFill>
                  <a:srgbClr val="D96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no autorizado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524750" y="6362700"/>
            <a:ext cx="40737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1.0.2 </a:t>
            </a:r>
            <a:r>
              <a:rPr lang="en-US" sz="1800" dirty="0">
                <a:solidFill>
                  <a:srgbClr val="C98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sin soporte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14706600" y="1905000"/>
            <a:ext cx="362112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registro · sin dueño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914400" y="8572500"/>
            <a:ext cx="8829675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inventario, la organización no puede saber con precisión qué software tiene, cuál está vulnerable y cuál debería estar ejecutándose.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8622759" y="8124825"/>
            <a:ext cx="875084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87619"/>
              </a:lnSpc>
              <a:buNone/>
            </a:pPr>
            <a:r>
              <a:rPr lang="en-US" sz="6900" b="1" kern="0" spc="-207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6900" dirty="0"/>
          </a:p>
        </p:txBody>
      </p:sp>
      <p:sp>
        <p:nvSpPr>
          <p:cNvPr id="47" name="Text 44"/>
          <p:cNvSpPr/>
          <p:nvPr/>
        </p:nvSpPr>
        <p:spPr>
          <a:xfrm>
            <a:off x="8622759" y="9077325"/>
            <a:ext cx="87508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activos en el parque · sin inventario, sin estado conocido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PROPÓSITO DEL CONTROL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52575"/>
            <a:ext cx="9810750" cy="15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17"/>
              </a:lnSpc>
              <a:buNone/>
            </a:pPr>
            <a:r>
              <a:rPr lang="en-US" sz="6000" b="1" kern="0" spc="-18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escena que se ordena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0668000" y="1619250"/>
            <a:ext cx="6906768" cy="168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757"/>
              </a:lnSpc>
              <a:buNone/>
            </a:pPr>
            <a:r>
              <a:rPr lang="en-US" sz="240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activamente todo el software para que solo corra el autorizado, y que lo no autorizado sea detectado e impedido de ejecutarse.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181100" y="3524250"/>
            <a:ext cx="85725" cy="8572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2038350" y="4914900"/>
            <a:ext cx="114300" cy="11430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1504950" y="6000750"/>
            <a:ext cx="66675" cy="6667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952750" y="4057650"/>
            <a:ext cx="95250" cy="9525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3771900" y="5524500"/>
            <a:ext cx="76200" cy="76200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2628900" y="6877050"/>
            <a:ext cx="104775" cy="10477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419600" y="3562350"/>
            <a:ext cx="66675" cy="6667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724400" y="6286500"/>
            <a:ext cx="85725" cy="85725"/>
          </a:xfrm>
          <a:prstGeom prst="rect">
            <a:avLst/>
          </a:prstGeom>
          <a:solidFill>
            <a:srgbClr val="C2C9C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5867400" y="390525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867400" y="504825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5867400" y="619125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7200900" y="438150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7200900" y="561975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7200900" y="683895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8439150" y="386715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8439150" y="510540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8439150" y="6286500"/>
            <a:ext cx="95250" cy="95250"/>
          </a:xfrm>
          <a:prstGeom prst="rect">
            <a:avLst/>
          </a:prstGeom>
          <a:solidFill>
            <a:srgbClr val="7F8B9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6057900" y="3848100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firefox · 128.4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391400" y="5562600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7-zip · 24.08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629650" y="6229350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3.11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439400" y="3810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10439400" y="4572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10439400" y="5334000"/>
            <a:ext cx="114300" cy="114300"/>
          </a:xfrm>
          <a:prstGeom prst="rect">
            <a:avLst/>
          </a:prstGeom>
          <a:solidFill>
            <a:srgbClr val="C98B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10439400" y="6096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7"/>
          <p:cNvSpPr/>
          <p:nvPr/>
        </p:nvSpPr>
        <p:spPr>
          <a:xfrm>
            <a:off x="10439400" y="6858000"/>
            <a:ext cx="114300" cy="114300"/>
          </a:xfrm>
          <a:prstGeom prst="rect">
            <a:avLst/>
          </a:prstGeom>
          <a:solidFill>
            <a:srgbClr val="D9604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11677650" y="3810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11677650" y="4572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0"/>
          <p:cNvSpPr/>
          <p:nvPr/>
        </p:nvSpPr>
        <p:spPr>
          <a:xfrm>
            <a:off x="11677650" y="5334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1"/>
          <p:cNvSpPr/>
          <p:nvPr/>
        </p:nvSpPr>
        <p:spPr>
          <a:xfrm>
            <a:off x="11677650" y="6096000"/>
            <a:ext cx="114300" cy="114300"/>
          </a:xfrm>
          <a:prstGeom prst="rect">
            <a:avLst/>
          </a:prstGeom>
          <a:solidFill>
            <a:srgbClr val="C98B1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32"/>
          <p:cNvSpPr/>
          <p:nvPr/>
        </p:nvSpPr>
        <p:spPr>
          <a:xfrm>
            <a:off x="11677650" y="6858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3"/>
          <p:cNvSpPr/>
          <p:nvPr/>
        </p:nvSpPr>
        <p:spPr>
          <a:xfrm>
            <a:off x="12915900" y="3810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4"/>
          <p:cNvSpPr/>
          <p:nvPr/>
        </p:nvSpPr>
        <p:spPr>
          <a:xfrm>
            <a:off x="12915900" y="4572000"/>
            <a:ext cx="114300" cy="114300"/>
          </a:xfrm>
          <a:prstGeom prst="rect">
            <a:avLst/>
          </a:prstGeom>
          <a:solidFill>
            <a:srgbClr val="D9604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5"/>
          <p:cNvSpPr/>
          <p:nvPr/>
        </p:nvSpPr>
        <p:spPr>
          <a:xfrm>
            <a:off x="12915900" y="5334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36"/>
          <p:cNvSpPr/>
          <p:nvPr/>
        </p:nvSpPr>
        <p:spPr>
          <a:xfrm>
            <a:off x="12915900" y="6096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7"/>
          <p:cNvSpPr/>
          <p:nvPr/>
        </p:nvSpPr>
        <p:spPr>
          <a:xfrm>
            <a:off x="12915900" y="6858000"/>
            <a:ext cx="114300" cy="11430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Shape 38"/>
          <p:cNvSpPr/>
          <p:nvPr/>
        </p:nvSpPr>
        <p:spPr>
          <a:xfrm>
            <a:off x="14725650" y="3810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Shape 39"/>
          <p:cNvSpPr/>
          <p:nvPr/>
        </p:nvSpPr>
        <p:spPr>
          <a:xfrm>
            <a:off x="14725650" y="4572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Shape 40"/>
          <p:cNvSpPr/>
          <p:nvPr/>
        </p:nvSpPr>
        <p:spPr>
          <a:xfrm>
            <a:off x="14725650" y="5334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Shape 41"/>
          <p:cNvSpPr/>
          <p:nvPr/>
        </p:nvSpPr>
        <p:spPr>
          <a:xfrm>
            <a:off x="14725650" y="6096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Shape 42"/>
          <p:cNvSpPr/>
          <p:nvPr/>
        </p:nvSpPr>
        <p:spPr>
          <a:xfrm>
            <a:off x="14725650" y="6858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43"/>
          <p:cNvSpPr/>
          <p:nvPr/>
        </p:nvSpPr>
        <p:spPr>
          <a:xfrm>
            <a:off x="15963900" y="3810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Shape 44"/>
          <p:cNvSpPr/>
          <p:nvPr/>
        </p:nvSpPr>
        <p:spPr>
          <a:xfrm>
            <a:off x="15963900" y="4572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Shape 45"/>
          <p:cNvSpPr/>
          <p:nvPr/>
        </p:nvSpPr>
        <p:spPr>
          <a:xfrm>
            <a:off x="15963900" y="5334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Shape 46"/>
          <p:cNvSpPr/>
          <p:nvPr/>
        </p:nvSpPr>
        <p:spPr>
          <a:xfrm>
            <a:off x="15963900" y="6096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Shape 47"/>
          <p:cNvSpPr/>
          <p:nvPr/>
        </p:nvSpPr>
        <p:spPr>
          <a:xfrm>
            <a:off x="15963900" y="6858000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Shape 48"/>
          <p:cNvSpPr/>
          <p:nvPr/>
        </p:nvSpPr>
        <p:spPr>
          <a:xfrm>
            <a:off x="17106900" y="4572000"/>
            <a:ext cx="152400" cy="152400"/>
          </a:xfrm>
          <a:prstGeom prst="rect">
            <a:avLst/>
          </a:prstGeom>
          <a:ln w="9525">
            <a:solidFill>
              <a:srgbClr val="D9604E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49"/>
          <p:cNvSpPr/>
          <p:nvPr/>
        </p:nvSpPr>
        <p:spPr>
          <a:xfrm>
            <a:off x="17106900" y="6096000"/>
            <a:ext cx="152400" cy="152400"/>
          </a:xfrm>
          <a:prstGeom prst="rect">
            <a:avLst/>
          </a:prstGeom>
          <a:ln w="9525">
            <a:solidFill>
              <a:srgbClr val="D9604E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0"/>
          <p:cNvSpPr/>
          <p:nvPr/>
        </p:nvSpPr>
        <p:spPr>
          <a:xfrm>
            <a:off x="15392400" y="7258050"/>
            <a:ext cx="19614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96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se ejecuta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914400" y="8305800"/>
            <a:ext cx="4191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Desconocido</a:t>
            </a:r>
            <a:endParaRPr lang="en-US" sz="2850" dirty="0"/>
          </a:p>
        </p:txBody>
      </p:sp>
      <p:sp>
        <p:nvSpPr>
          <p:cNvPr id="55" name="Text 52"/>
          <p:cNvSpPr/>
          <p:nvPr/>
        </p:nvSpPr>
        <p:spPr>
          <a:xfrm>
            <a:off x="914400" y="8791575"/>
            <a:ext cx="4191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nombre ni dueño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5029200" y="8305800"/>
            <a:ext cx="4191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</a:t>
            </a:r>
            <a:endParaRPr lang="en-US" sz="2850" dirty="0"/>
          </a:p>
        </p:txBody>
      </p:sp>
      <p:sp>
        <p:nvSpPr>
          <p:cNvPr id="57" name="Text 54"/>
          <p:cNvSpPr/>
          <p:nvPr/>
        </p:nvSpPr>
        <p:spPr>
          <a:xfrm>
            <a:off x="5029200" y="8791575"/>
            <a:ext cx="41910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· versión · propósito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9144000" y="8305800"/>
            <a:ext cx="419100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Autorizado</a:t>
            </a:r>
            <a:endParaRPr lang="en-US" sz="2850" dirty="0"/>
          </a:p>
        </p:txBody>
      </p:sp>
      <p:sp>
        <p:nvSpPr>
          <p:cNvPr id="59" name="Text 56"/>
          <p:cNvSpPr/>
          <p:nvPr/>
        </p:nvSpPr>
        <p:spPr>
          <a:xfrm>
            <a:off x="9144000" y="8791575"/>
            <a:ext cx="4191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sobre cada activo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3258800" y="8305800"/>
            <a:ext cx="44005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kern="0" spc="-57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Controlado</a:t>
            </a:r>
            <a:endParaRPr lang="en-US" sz="2850" dirty="0"/>
          </a:p>
        </p:txBody>
      </p:sp>
      <p:sp>
        <p:nvSpPr>
          <p:cNvPr id="61" name="Text 58"/>
          <p:cNvSpPr/>
          <p:nvPr/>
        </p:nvSpPr>
        <p:spPr>
          <a:xfrm>
            <a:off x="13258800" y="8791575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lo permitido se ejecuta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GRUPOS DE IMPLEMENTACIÓN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52575"/>
            <a:ext cx="11772900" cy="1494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5850" b="1" kern="0" spc="-175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infraestructura, un estrato más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5240000" y="6953250"/>
            <a:ext cx="18609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6667500"/>
            <a:ext cx="5837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695700"/>
            <a:ext cx="5837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038600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estrato añadido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343150" y="50482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343150" y="5219700"/>
            <a:ext cx="35623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6153150" y="50482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53150" y="5240628"/>
            <a:ext cx="35623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10915650" y="5048250"/>
            <a:ext cx="4191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915650" y="5400675"/>
            <a:ext cx="4191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no autorizado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3867150" y="3067050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867150" y="3419475"/>
            <a:ext cx="39814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8629650" y="3067050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629650" y="3419475"/>
            <a:ext cx="39814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Allowlisting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13392150" y="3067050"/>
            <a:ext cx="4191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392150" y="3419475"/>
            <a:ext cx="4191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 autorizadas</a:t>
            </a:r>
            <a:endParaRPr lang="en-US" sz="2550" dirty="0"/>
          </a:p>
        </p:txBody>
      </p:sp>
      <p:sp>
        <p:nvSpPr>
          <p:cNvPr id="21" name="Text 18"/>
          <p:cNvSpPr/>
          <p:nvPr/>
        </p:nvSpPr>
        <p:spPr>
          <a:xfrm>
            <a:off x="914400" y="8382000"/>
            <a:ext cx="745617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18"/>
              </a:lnSpc>
              <a:buNone/>
            </a:pPr>
            <a:r>
              <a:rPr lang="en-US" sz="22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IG1 sostiene la visibilidad. IG2 añade observación automática y prevención de ejecución sobre esa misma base.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0433239" y="9077325"/>
            <a:ext cx="69403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 · exclusiva de IG3 · fuera de este alcance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9429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MAPA DE OPERACIONES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52575"/>
            <a:ext cx="8829675" cy="1456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609"/>
              </a:lnSpc>
              <a:buNone/>
            </a:pPr>
            <a:r>
              <a:rPr lang="en-US" sz="5700" b="1" kern="0" spc="-171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funciones, un solo centro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6667500" y="5905500"/>
            <a:ext cx="44005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486"/>
              </a:lnSpc>
              <a:buNone/>
            </a:pPr>
            <a:r>
              <a:rPr lang="en-US" sz="4800" b="1" kern="0" spc="-144" dirty="0">
                <a:solidFill>
                  <a:srgbClr val="2E6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667500" y="6629400"/>
            <a:ext cx="4400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4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el inventario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667500" y="7105650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 lo demás depende de esto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534900" y="2095500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534900" y="2447925"/>
            <a:ext cx="4400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Juzga la confianza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2534900" y="2933700"/>
            <a:ext cx="412051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software puede seguir existiendo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2915900" y="5715000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15900" y="6067425"/>
            <a:ext cx="44005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 la ejecución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2915900" y="6553200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autorizado corre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525000" y="8896350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525000" y="9248775"/>
            <a:ext cx="48196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 dependencias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525000" y="9734550"/>
            <a:ext cx="4819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 y componentes cargados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361950" y="3238500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1985" y="3590925"/>
            <a:ext cx="412051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la observación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61950" y="4505325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inventario se mantiene solo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628650" y="8382000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28675" y="8734425"/>
            <a:ext cx="29432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 anomalías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28650" y="9648825"/>
            <a:ext cx="31432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retiro o excepción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QUÉ EXIGE CADA SALVAGUARDA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14475"/>
            <a:ext cx="11525250" cy="7100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49"/>
              </a:lnSpc>
              <a:buNone/>
            </a:pPr>
            <a:r>
              <a:rPr lang="en-US" sz="5400" b="1" kern="0" spc="-162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exigencias concretas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4230350" y="2590800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CSF 2.0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352800"/>
            <a:ext cx="5837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438900"/>
            <a:ext cx="5837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857500" y="33718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381500" y="3314700"/>
            <a:ext cx="5448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software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525000" y="3409950"/>
            <a:ext cx="447370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software instalado: publicador, propósito y versión.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4230350" y="3390900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ID.AM-02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2857500" y="44005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4381500" y="4343400"/>
            <a:ext cx="5448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soportado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525000" y="4438650"/>
            <a:ext cx="447370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software con soporte vigente del proveedor.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4230350" y="4419600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PR.PS-02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2857500" y="54292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4381500" y="5372100"/>
            <a:ext cx="5448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no autorizado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525000" y="5467350"/>
            <a:ext cx="447370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Retirarlo del activo o documentar una excepción.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4230350" y="5448300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PR.PS-02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2857500" y="64579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4381500" y="6400800"/>
            <a:ext cx="5448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automatizado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9525000" y="6496050"/>
            <a:ext cx="447370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que mantienen el inventario al día sin intervención.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4230350" y="6477000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correspondencia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857500" y="74866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4381500" y="7429500"/>
            <a:ext cx="5448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Allowlisting de software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9525000" y="7524750"/>
            <a:ext cx="477774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autorizado puede ejecutarse.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4230350" y="7505700"/>
            <a:ext cx="31432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dirty="0">
                <a:solidFill>
                  <a:srgbClr val="D960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PR.PS-05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2857500" y="8515350"/>
            <a:ext cx="15716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4381500" y="8458200"/>
            <a:ext cx="54483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Allowlisting de librerías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525000" y="8553450"/>
            <a:ext cx="447370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32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librerías y componentes autorizados pueden cargarse.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4230350" y="8534400"/>
            <a:ext cx="3143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correspondencia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CORRESPONDENCIAS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14475"/>
            <a:ext cx="10791825" cy="123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757"/>
              </a:lnSpc>
              <a:buNone/>
            </a:pPr>
            <a:r>
              <a:rPr lang="en-US" sz="4800" b="1" kern="0" spc="-14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documentadas hacia CSF 2.0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36270" y="2838450"/>
            <a:ext cx="30594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 CONTROL 2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6270" y="3219450"/>
            <a:ext cx="3059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22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· Inventariar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36270" y="4267200"/>
            <a:ext cx="3059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22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· Soporte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636270" y="5314950"/>
            <a:ext cx="3059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22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· No autorizado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636270" y="6362700"/>
            <a:ext cx="3059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22" dirty="0">
                <a:solidFill>
                  <a:srgbClr val="7F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· Automatizar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636270" y="7410450"/>
            <a:ext cx="3059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22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· Allowlisting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636270" y="8458200"/>
            <a:ext cx="30594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22" dirty="0">
                <a:solidFill>
                  <a:srgbClr val="7F8B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· Librerías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400800" y="6324600"/>
            <a:ext cx="55825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vía muerta · sin subcategoría directa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8420100"/>
            <a:ext cx="55825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vía muerta · sin subcategoría directa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306300" y="2381250"/>
            <a:ext cx="56578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01" dirty="0">
                <a:solidFill>
                  <a:srgbClr val="2E6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ID.AM-02</a:t>
            </a:r>
            <a:endParaRPr lang="en-US" sz="4050" dirty="0"/>
          </a:p>
        </p:txBody>
      </p:sp>
      <p:sp>
        <p:nvSpPr>
          <p:cNvPr id="15" name="Text 12"/>
          <p:cNvSpPr/>
          <p:nvPr/>
        </p:nvSpPr>
        <p:spPr>
          <a:xfrm>
            <a:off x="12306300" y="3048000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Inventarios de software, servicios y sistemas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2306300" y="4686300"/>
            <a:ext cx="56578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01" dirty="0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PR.PS-02</a:t>
            </a:r>
            <a:endParaRPr lang="en-US" sz="4050" dirty="0"/>
          </a:p>
        </p:txBody>
      </p:sp>
      <p:sp>
        <p:nvSpPr>
          <p:cNvPr id="17" name="Text 14"/>
          <p:cNvSpPr/>
          <p:nvPr/>
        </p:nvSpPr>
        <p:spPr>
          <a:xfrm>
            <a:off x="12306300" y="5353050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Mantenimiento, reemplazo y retiro según el riesgo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2306300" y="6953250"/>
            <a:ext cx="56578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kern="0" spc="-101" dirty="0">
                <a:solidFill>
                  <a:srgbClr val="D96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PR.PS-05</a:t>
            </a:r>
            <a:endParaRPr lang="en-US" sz="4050" dirty="0"/>
          </a:p>
        </p:txBody>
      </p:sp>
      <p:sp>
        <p:nvSpPr>
          <p:cNvPr id="19" name="Text 16"/>
          <p:cNvSpPr/>
          <p:nvPr/>
        </p:nvSpPr>
        <p:spPr>
          <a:xfrm>
            <a:off x="12306300" y="7620000"/>
            <a:ext cx="529780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Prevención de instalación y ejecución no autorizada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2306300" y="1809750"/>
            <a:ext cx="2233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CSF 2.0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4400" y="9324975"/>
            <a:ext cx="155276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Correspondencias del mapeo CIS v8.1 → NIST CSF 2.0. Cualquier relación adicional sería análisis propio.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47750"/>
            <a:ext cx="9429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SALVAGUARDA 2.1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647825"/>
            <a:ext cx="8829675" cy="1793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782"/>
              </a:lnSpc>
              <a:buNone/>
            </a:pPr>
            <a:r>
              <a:rPr lang="en-US" sz="7200" b="1" kern="0" spc="-252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qué software existe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10515600" y="2495550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0" y="2828925"/>
            <a:ext cx="440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Mozilla Firefox ESR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047750" y="4114800"/>
            <a:ext cx="4191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publicador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7750" y="4448175"/>
            <a:ext cx="41910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Mozilla Foundation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85850" y="4829175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versión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85850" y="5162550"/>
            <a:ext cx="37719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128.4.0esr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047750" y="5543550"/>
            <a:ext cx="4191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 de instalación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7750" y="5876925"/>
            <a:ext cx="41910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2026-02-14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3239750" y="4114800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propósito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239750" y="4448175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institucional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3620750" y="4829175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mecanismo de despliegue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620750" y="5162550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Intune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3239750" y="5543550"/>
            <a:ext cx="4400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 de baja prevista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239750" y="5876925"/>
            <a:ext cx="44005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2027-09-30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4648200" y="7162800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648200" y="7496175"/>
            <a:ext cx="3352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cpe:2.3:a:mozilla:firefox_esr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4400" y="8943975"/>
            <a:ext cx="7694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SW-00427 · registro 1 de 1 842 · revisión semestral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5140583" y="8515350"/>
            <a:ext cx="2233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CSF 2.0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140583" y="8867775"/>
            <a:ext cx="223301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3000" b="1" kern="0" spc="-60" dirty="0">
                <a:solidFill>
                  <a:srgbClr val="2E6F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ID.AM-02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IMPLEMENTACIÓN DE 2.1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14475"/>
            <a:ext cx="9810750" cy="15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17"/>
              </a:lnSpc>
              <a:buNone/>
            </a:pPr>
            <a:r>
              <a:rPr lang="en-US" sz="6000" b="1" kern="0" spc="-18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construye el inventario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1644122" y="1047750"/>
            <a:ext cx="5729478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estaciones Windows 10/11 15 servidores Ubuntu Server Active Directory · Microsoft Intune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867150"/>
            <a:ext cx="10912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PARQUE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385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33718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35052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36385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7719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39052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0386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1719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43053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44386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45720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47053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8387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49720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51054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52387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53721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55054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563880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5772150" y="3848100"/>
            <a:ext cx="76200" cy="76200"/>
          </a:xfrm>
          <a:prstGeom prst="rect">
            <a:avLst/>
          </a:prstGeom>
          <a:solidFill>
            <a:srgbClr val="2E6FB7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32385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33718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35052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7"/>
          <p:cNvSpPr/>
          <p:nvPr/>
        </p:nvSpPr>
        <p:spPr>
          <a:xfrm>
            <a:off x="36385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37719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39052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0"/>
          <p:cNvSpPr/>
          <p:nvPr/>
        </p:nvSpPr>
        <p:spPr>
          <a:xfrm>
            <a:off x="40386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31"/>
          <p:cNvSpPr/>
          <p:nvPr/>
        </p:nvSpPr>
        <p:spPr>
          <a:xfrm>
            <a:off x="41719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32"/>
          <p:cNvSpPr/>
          <p:nvPr/>
        </p:nvSpPr>
        <p:spPr>
          <a:xfrm>
            <a:off x="43053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Shape 33"/>
          <p:cNvSpPr/>
          <p:nvPr/>
        </p:nvSpPr>
        <p:spPr>
          <a:xfrm>
            <a:off x="44386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4"/>
          <p:cNvSpPr/>
          <p:nvPr/>
        </p:nvSpPr>
        <p:spPr>
          <a:xfrm>
            <a:off x="45720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5"/>
          <p:cNvSpPr/>
          <p:nvPr/>
        </p:nvSpPr>
        <p:spPr>
          <a:xfrm>
            <a:off x="47053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36"/>
          <p:cNvSpPr/>
          <p:nvPr/>
        </p:nvSpPr>
        <p:spPr>
          <a:xfrm>
            <a:off x="48387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7"/>
          <p:cNvSpPr/>
          <p:nvPr/>
        </p:nvSpPr>
        <p:spPr>
          <a:xfrm>
            <a:off x="49720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Shape 38"/>
          <p:cNvSpPr/>
          <p:nvPr/>
        </p:nvSpPr>
        <p:spPr>
          <a:xfrm>
            <a:off x="51054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Shape 39"/>
          <p:cNvSpPr/>
          <p:nvPr/>
        </p:nvSpPr>
        <p:spPr>
          <a:xfrm>
            <a:off x="52387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Shape 40"/>
          <p:cNvSpPr/>
          <p:nvPr/>
        </p:nvSpPr>
        <p:spPr>
          <a:xfrm>
            <a:off x="53721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Shape 41"/>
          <p:cNvSpPr/>
          <p:nvPr/>
        </p:nvSpPr>
        <p:spPr>
          <a:xfrm>
            <a:off x="55054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Shape 42"/>
          <p:cNvSpPr/>
          <p:nvPr/>
        </p:nvSpPr>
        <p:spPr>
          <a:xfrm>
            <a:off x="563880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43"/>
          <p:cNvSpPr/>
          <p:nvPr/>
        </p:nvSpPr>
        <p:spPr>
          <a:xfrm>
            <a:off x="5772150" y="3981450"/>
            <a:ext cx="76200" cy="76200"/>
          </a:xfrm>
          <a:prstGeom prst="rect">
            <a:avLst/>
          </a:prstGeom>
          <a:solidFill>
            <a:srgbClr val="2E6FB7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Shape 44"/>
          <p:cNvSpPr/>
          <p:nvPr/>
        </p:nvSpPr>
        <p:spPr>
          <a:xfrm>
            <a:off x="12763500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Shape 45"/>
          <p:cNvSpPr/>
          <p:nvPr/>
        </p:nvSpPr>
        <p:spPr>
          <a:xfrm>
            <a:off x="12925425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Shape 46"/>
          <p:cNvSpPr/>
          <p:nvPr/>
        </p:nvSpPr>
        <p:spPr>
          <a:xfrm>
            <a:off x="13087350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Shape 47"/>
          <p:cNvSpPr/>
          <p:nvPr/>
        </p:nvSpPr>
        <p:spPr>
          <a:xfrm>
            <a:off x="13249275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Shape 48"/>
          <p:cNvSpPr/>
          <p:nvPr/>
        </p:nvSpPr>
        <p:spPr>
          <a:xfrm>
            <a:off x="13411200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Shape 49"/>
          <p:cNvSpPr/>
          <p:nvPr/>
        </p:nvSpPr>
        <p:spPr>
          <a:xfrm>
            <a:off x="13573125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Shape 50"/>
          <p:cNvSpPr/>
          <p:nvPr/>
        </p:nvSpPr>
        <p:spPr>
          <a:xfrm>
            <a:off x="13735050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4" name="Shape 51"/>
          <p:cNvSpPr/>
          <p:nvPr/>
        </p:nvSpPr>
        <p:spPr>
          <a:xfrm>
            <a:off x="13896975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Shape 52"/>
          <p:cNvSpPr/>
          <p:nvPr/>
        </p:nvSpPr>
        <p:spPr>
          <a:xfrm>
            <a:off x="14058900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6" name="Shape 53"/>
          <p:cNvSpPr/>
          <p:nvPr/>
        </p:nvSpPr>
        <p:spPr>
          <a:xfrm>
            <a:off x="14220825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Shape 54"/>
          <p:cNvSpPr/>
          <p:nvPr/>
        </p:nvSpPr>
        <p:spPr>
          <a:xfrm>
            <a:off x="14382750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8" name="Shape 55"/>
          <p:cNvSpPr/>
          <p:nvPr/>
        </p:nvSpPr>
        <p:spPr>
          <a:xfrm>
            <a:off x="14544675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Shape 56"/>
          <p:cNvSpPr/>
          <p:nvPr/>
        </p:nvSpPr>
        <p:spPr>
          <a:xfrm>
            <a:off x="14706600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0" name="Shape 57"/>
          <p:cNvSpPr/>
          <p:nvPr/>
        </p:nvSpPr>
        <p:spPr>
          <a:xfrm>
            <a:off x="14868525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Shape 58"/>
          <p:cNvSpPr/>
          <p:nvPr/>
        </p:nvSpPr>
        <p:spPr>
          <a:xfrm>
            <a:off x="15030450" y="3848100"/>
            <a:ext cx="95250" cy="247650"/>
          </a:xfrm>
          <a:prstGeom prst="rect">
            <a:avLst/>
          </a:prstGeom>
          <a:solidFill>
            <a:srgbClr val="1F8A5F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2" name="Text 59"/>
          <p:cNvSpPr/>
          <p:nvPr/>
        </p:nvSpPr>
        <p:spPr>
          <a:xfrm>
            <a:off x="3238500" y="4400550"/>
            <a:ext cx="3771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endpoints unidos a AD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12763500" y="4400550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servidores</a:t>
            </a:r>
            <a:endParaRPr lang="en-US" sz="1800" dirty="0"/>
          </a:p>
        </p:txBody>
      </p:sp>
      <p:sp>
        <p:nvSpPr>
          <p:cNvPr id="64" name="Text 61"/>
          <p:cNvSpPr/>
          <p:nvPr/>
        </p:nvSpPr>
        <p:spPr>
          <a:xfrm>
            <a:off x="914400" y="5715000"/>
            <a:ext cx="12604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AGENTES</a:t>
            </a:r>
            <a:endParaRPr lang="en-US" sz="1800" dirty="0"/>
          </a:p>
        </p:txBody>
      </p:sp>
      <p:sp>
        <p:nvSpPr>
          <p:cNvPr id="65" name="Text 62"/>
          <p:cNvSpPr/>
          <p:nvPr/>
        </p:nvSpPr>
        <p:spPr>
          <a:xfrm>
            <a:off x="3390900" y="5715000"/>
            <a:ext cx="294322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Intune / Configuration Manager</a:t>
            </a:r>
            <a:endParaRPr lang="en-US" sz="2550" dirty="0"/>
          </a:p>
        </p:txBody>
      </p:sp>
      <p:sp>
        <p:nvSpPr>
          <p:cNvPr id="66" name="Text 63"/>
          <p:cNvSpPr/>
          <p:nvPr/>
        </p:nvSpPr>
        <p:spPr>
          <a:xfrm>
            <a:off x="6286500" y="5715000"/>
            <a:ext cx="29432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GLPI Agent </a:t>
            </a:r>
            <a:r>
              <a:rPr lang="en-US" sz="1800" kern="0" spc="-38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ambas poblaciones</a:t>
            </a:r>
            <a:endParaRPr lang="en-US" sz="2550" dirty="0"/>
          </a:p>
        </p:txBody>
      </p:sp>
      <p:sp>
        <p:nvSpPr>
          <p:cNvPr id="67" name="Text 64"/>
          <p:cNvSpPr/>
          <p:nvPr/>
        </p:nvSpPr>
        <p:spPr>
          <a:xfrm>
            <a:off x="12763500" y="5715000"/>
            <a:ext cx="3143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-3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</a:t>
            </a:r>
            <a:endParaRPr lang="en-US" sz="2550" dirty="0"/>
          </a:p>
        </p:txBody>
      </p:sp>
      <p:sp>
        <p:nvSpPr>
          <p:cNvPr id="68" name="Text 65"/>
          <p:cNvSpPr/>
          <p:nvPr/>
        </p:nvSpPr>
        <p:spPr>
          <a:xfrm>
            <a:off x="5715000" y="7867650"/>
            <a:ext cx="7334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GLPI · INVENTARIO CENTRAL</a:t>
            </a:r>
            <a:endParaRPr lang="en-US" sz="1800" dirty="0"/>
          </a:p>
        </p:txBody>
      </p:sp>
      <p:sp>
        <p:nvSpPr>
          <p:cNvPr id="69" name="Text 66"/>
          <p:cNvSpPr/>
          <p:nvPr/>
        </p:nvSpPr>
        <p:spPr>
          <a:xfrm>
            <a:off x="5715000" y="8258175"/>
            <a:ext cx="73342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único por activo</a:t>
            </a:r>
            <a:endParaRPr lang="en-US" sz="3600" dirty="0"/>
          </a:p>
        </p:txBody>
      </p:sp>
      <p:sp>
        <p:nvSpPr>
          <p:cNvPr id="70" name="Text 67"/>
          <p:cNvSpPr/>
          <p:nvPr/>
        </p:nvSpPr>
        <p:spPr>
          <a:xfrm>
            <a:off x="5715000" y="9067800"/>
            <a:ext cx="7962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y conciliación semestral</a:t>
            </a:r>
            <a:endParaRPr lang="en-US" sz="2700" dirty="0"/>
          </a:p>
        </p:txBody>
      </p:sp>
      <p:sp>
        <p:nvSpPr>
          <p:cNvPr id="71" name="Text 68"/>
          <p:cNvSpPr/>
          <p:nvPr/>
        </p:nvSpPr>
        <p:spPr>
          <a:xfrm>
            <a:off x="13135356" y="8549878"/>
            <a:ext cx="4238244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osquery · consultas puntuales CPE · normalización de nombres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8591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SALVAGUARDA 2.5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14475"/>
            <a:ext cx="8044815" cy="1344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50"/>
              </a:lnSpc>
              <a:buNone/>
            </a:pPr>
            <a:r>
              <a:rPr lang="en-US" sz="5250" b="1" kern="0" spc="-15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frontera de ejecución</a:t>
            </a:r>
            <a:endParaRPr lang="en-US" sz="5250" dirty="0"/>
          </a:p>
        </p:txBody>
      </p:sp>
      <p:sp>
        <p:nvSpPr>
          <p:cNvPr id="5" name="Text 2"/>
          <p:cNvSpPr/>
          <p:nvPr/>
        </p:nvSpPr>
        <p:spPr>
          <a:xfrm>
            <a:off x="579120" y="2990850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excel.exe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9120" y="3752850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firefox.exe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9120" y="5086350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portable_tool.exe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9120" y="5848350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setup_unknown.exe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9120" y="7181850"/>
            <a:ext cx="36880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1.0.2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20250" y="571500"/>
            <a:ext cx="14887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FRONTERA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00" y="2762250"/>
            <a:ext cx="41910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13716000" y="3524250"/>
            <a:ext cx="4191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firmado y en la línea base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906000" y="5048250"/>
            <a:ext cx="5238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D96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9906000" y="5810250"/>
            <a:ext cx="5238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fuera del inventario autorizado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573000" y="7048500"/>
            <a:ext cx="5238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C98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12573000" y="7810500"/>
            <a:ext cx="5238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soporte · retiro o excepción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305300" y="8858250"/>
            <a:ext cx="7694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 base: 2.1 inventario + 2.2 software soportado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140583" y="8867775"/>
            <a:ext cx="2233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kern="0" spc="252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CSF 2.0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140583" y="9220200"/>
            <a:ext cx="223301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700" b="1" kern="0" spc="-54" dirty="0">
                <a:solidFill>
                  <a:srgbClr val="D96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PR.PS-05</a:t>
            </a:r>
            <a:endParaRPr lang="en-US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IMPLEMENTACIÓN DE 2.5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14475"/>
            <a:ext cx="9810750" cy="1647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824"/>
              </a:lnSpc>
              <a:buNone/>
            </a:pPr>
            <a:r>
              <a:rPr lang="en-US" sz="6600" b="1" kern="0" spc="-231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observar, después bloquear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1323975" y="4114800"/>
            <a:ext cx="2305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323975" y="44767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· 2.2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24225" y="3543300"/>
            <a:ext cx="2305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324225" y="39052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firma · hash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95975" y="4114800"/>
            <a:ext cx="2305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mode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5895975" y="44767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C98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bloquea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467725" y="3543300"/>
            <a:ext cx="2305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8467725" y="39052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eventos reales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229975" y="4114800"/>
            <a:ext cx="2305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1229975" y="4476750"/>
            <a:ext cx="2305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excepciones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173200" y="3543300"/>
            <a:ext cx="2514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kern="0" spc="-34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4173200" y="3905250"/>
            <a:ext cx="2514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bloqueo efectivo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095500" y="6400800"/>
            <a:ext cx="204704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C98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OBSERVACIÓN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763500" y="6400800"/>
            <a:ext cx="18609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PREVENCIÓN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095500" y="7067550"/>
            <a:ext cx="4512945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WDAC / AppLocker · Windows fapolicyd · Ubuntu Server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763500" y="7067550"/>
            <a:ext cx="4748403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 Installer · Intune despliegue progresivo por grupos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238500" y="8629650"/>
            <a:ext cx="6867525" cy="120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1111"/>
              </a:lnSpc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evidencia del audit mode define las excepciones y el procedimiento de contingencia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0477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CASOS DEL SISTEMA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14475"/>
            <a:ext cx="9810750" cy="1456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609"/>
              </a:lnSpc>
              <a:buNone/>
            </a:pPr>
            <a:r>
              <a:rPr lang="en-US" sz="5700" b="1" kern="0" spc="-171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intentos en el mismo parque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914400" y="363855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190750" y="4210050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excel.exe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190750" y="4705350"/>
            <a:ext cx="353187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Firmado por publicador confiable y presente en la línea base.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2857500" y="6172200"/>
            <a:ext cx="3562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1F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2857500" y="68008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· 2.2 · 2.5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0" y="363855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677150" y="4210050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portable_tool.exe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77150" y="4705350"/>
            <a:ext cx="3531870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Descargado por el usuario, ausente del inventario autorizado.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8343900" y="6172200"/>
            <a:ext cx="3562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D96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8343900" y="68008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· 2.5 · registrado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887200" y="3638550"/>
            <a:ext cx="8992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C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163550" y="4210050"/>
            <a:ext cx="398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519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openssl 1.0.2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163550" y="4705350"/>
            <a:ext cx="39243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19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Requerido por un sistema heredado y ya fuera de soporte.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3830300" y="6172200"/>
            <a:ext cx="389763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C98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endParaRPr lang="en-US" sz="3900" dirty="0"/>
          </a:p>
        </p:txBody>
      </p:sp>
      <p:sp>
        <p:nvSpPr>
          <p:cNvPr id="19" name="Text 16"/>
          <p:cNvSpPr/>
          <p:nvPr/>
        </p:nvSpPr>
        <p:spPr>
          <a:xfrm>
            <a:off x="13830300" y="6800850"/>
            <a:ext cx="38976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· retiro o excepción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12573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16002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19431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22860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6289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9718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33147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6576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0005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3434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686300" y="1533525"/>
            <a:ext cx="133350" cy="133350"/>
          </a:xfrm>
          <a:prstGeom prst="rect">
            <a:avLst/>
          </a:prstGeom>
          <a:solidFill>
            <a:srgbClr val="1F8A5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029200" y="1524000"/>
            <a:ext cx="152400" cy="152400"/>
          </a:xfrm>
          <a:prstGeom prst="rect">
            <a:avLst/>
          </a:prstGeom>
          <a:ln w="9525">
            <a:solidFill>
              <a:srgbClr val="D9604E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5391150" y="1524000"/>
            <a:ext cx="152400" cy="152400"/>
          </a:xfrm>
          <a:prstGeom prst="rect">
            <a:avLst/>
          </a:prstGeom>
          <a:ln w="9525">
            <a:solidFill>
              <a:srgbClr val="D9604E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914400" y="2057400"/>
            <a:ext cx="79964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identificado · inventariado · autorizado · controlado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914400"/>
            <a:ext cx="2157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CIERRE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14400" y="3619500"/>
            <a:ext cx="14716125" cy="2576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436"/>
              </a:lnSpc>
              <a:buNone/>
            </a:pPr>
            <a:r>
              <a:rPr lang="en-US" sz="10200" b="1" kern="0" spc="-408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protección comienza con saber qué existe.</a:t>
            </a:r>
            <a:endParaRPr lang="en-US" sz="10200" dirty="0"/>
          </a:p>
        </p:txBody>
      </p:sp>
      <p:sp>
        <p:nvSpPr>
          <p:cNvPr id="20" name="Text 17"/>
          <p:cNvSpPr/>
          <p:nvPr/>
        </p:nvSpPr>
        <p:spPr>
          <a:xfrm>
            <a:off x="914400" y="8305800"/>
            <a:ext cx="7334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Control 2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14400" y="8829675"/>
            <a:ext cx="733425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4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Inventario · ciclo de vida · autorización · prevención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545437" y="9077325"/>
            <a:ext cx="48281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 Controls v8.1 · NIST CSF 2.0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12573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FUENTES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1514475"/>
            <a:ext cx="11772900" cy="1382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049"/>
              </a:lnSpc>
              <a:buNone/>
            </a:pPr>
            <a:r>
              <a:rPr lang="en-US" sz="5400" b="1" kern="0" spc="-162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viene cada afirmación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428750" y="3143250"/>
            <a:ext cx="11525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Critical Security Controls v8.1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428750" y="3648075"/>
            <a:ext cx="11525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2 y salvaguardas 2.1 – 2.7 · Center for Internet Security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28750" y="5238750"/>
            <a:ext cx="13620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Cybersecurity Framework 2.0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428750" y="5743575"/>
            <a:ext cx="13620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F8B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subcategorías ID.AM-02, PR.PS-02 y PR.PS-05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43925" y="8595420"/>
            <a:ext cx="8829675" cy="81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51111"/>
              </a:lnSpc>
              <a:buNone/>
            </a:pPr>
            <a:r>
              <a:rPr lang="en-US" sz="1800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sistema de ejemplo y los mecanismos propuestos son elaboración propia sobre estas fuentes.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2157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8A1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DECLARACIÓN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14400" y="3619500"/>
            <a:ext cx="5297805" cy="1793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782"/>
              </a:lnSpc>
              <a:buNone/>
            </a:pPr>
            <a:r>
              <a:rPr lang="en-US" sz="7200" b="1" kern="0" spc="-252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IA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620000" y="2647950"/>
            <a:ext cx="2233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2E6F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HERRAMIENTAS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20000" y="3581400"/>
            <a:ext cx="107289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60" dirty="0">
                <a:solidFill>
                  <a:srgbClr val="151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Design · Modelo Opus 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620000" y="4362450"/>
            <a:ext cx="27912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F8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QUÉ SE USÓ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0" y="5295900"/>
            <a:ext cx="10046208" cy="2524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941"/>
              </a:lnSpc>
              <a:buNone/>
            </a:pPr>
            <a:r>
              <a:rPr lang="en-US" sz="2250" dirty="0">
                <a:solidFill>
                  <a:srgbClr val="3A4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hizo la lectura autónoma del control asignado, junto con el análisis y la relación con el NIST CSF 2.0. Con esa información se le indicó a Claude Design que actuara como diseñador gráfico y diseñador UX/UI, con el fin de generar una presentación visual basada en el material compartido. Luego se hizo uso de Opus 5, al que se le pasó la consigna y se le pidió revisar que el trabajo cumpliera con todo lo pedido por el docente.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1388</Words>
  <Application>Microsoft Office PowerPoint</Application>
  <PresentationFormat>Personalizado</PresentationFormat>
  <Paragraphs>258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GIRALDO AMADOR</cp:lastModifiedBy>
  <cp:revision>2</cp:revision>
  <dcterms:created xsi:type="dcterms:W3CDTF">2026-09-19T00:37:03Z</dcterms:created>
  <dcterms:modified xsi:type="dcterms:W3CDTF">2026-09-19T00:37:50Z</dcterms:modified>
</cp:coreProperties>
</file>