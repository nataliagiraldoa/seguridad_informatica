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33" d="100"/>
          <a:sy n="33" d="100"/>
        </p:scale>
        <p:origin x="1954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898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Presentar el proyecto de navegación autónoma y el objetivo de la sustentación: revisar los controles técnicos ISO/IEC 27001 implementados.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Delimitar el alcance de la certificación: qué procesos del sistema están dentro del SGSI y cuáles quedan explícitamente fuera.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pipeline de tres controles técnicos implementados y qué amenaza mitiga cada uno.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las tres brechas priorizadas para el siguiente ciclo de mejora del SGSI.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las tres brechas priorizadas para el siguiente ciclo de mejora del SGSI.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518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A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D8CFB4">
                  <a:alpha val="100000"/>
                </a:srgbClr>
              </a:gs>
              <a:gs pos="100000">
                <a:srgbClr val="D8CFB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902970"/>
            <a:ext cx="510540" cy="510540"/>
          </a:xfrm>
          <a:prstGeom prst="roundRect">
            <a:avLst>
              <a:gd name="adj" fmla="val 14925"/>
            </a:avLst>
          </a:prstGeom>
          <a:solidFill>
            <a:srgbClr val="F7F2E4"/>
          </a:solidFill>
          <a:ln w="7620">
            <a:solidFill>
              <a:srgbClr val="201F2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3470" y="104394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15440" y="857250"/>
            <a:ext cx="772296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0" dirty="0">
                <a:solidFill>
                  <a:srgbClr val="20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ISO/IEC 27001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615440" y="1139190"/>
            <a:ext cx="77229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12244149" y="895350"/>
            <a:ext cx="5091351" cy="525780"/>
          </a:xfrm>
          <a:prstGeom prst="roundRect">
            <a:avLst>
              <a:gd name="adj" fmla="val 50000"/>
            </a:avLst>
          </a:prstGeom>
          <a:solidFill>
            <a:srgbClr val="F7F2E4"/>
          </a:solidFill>
          <a:ln w="7620">
            <a:solidFill>
              <a:srgbClr val="C1552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480370" y="1115377"/>
            <a:ext cx="85725" cy="85725"/>
          </a:xfrm>
          <a:prstGeom prst="ellipse">
            <a:avLst/>
          </a:prstGeom>
          <a:solidFill>
            <a:srgbClr val="C1552E"/>
          </a:solidFill>
          <a:ln/>
        </p:spPr>
      </p:sp>
      <p:sp>
        <p:nvSpPr>
          <p:cNvPr id="9" name="Text 6"/>
          <p:cNvSpPr/>
          <p:nvPr/>
        </p:nvSpPr>
        <p:spPr>
          <a:xfrm>
            <a:off x="12661345" y="998220"/>
            <a:ext cx="488172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78" dirty="0">
                <a:solidFill>
                  <a:srgbClr val="C15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ISO/IEC 27001:2022 · ANEXO A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952500" y="2540318"/>
            <a:ext cx="157162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5B5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NAVEGACIÓN AUTÓNOMA · SEGURIDAD DE LA INFORMACIÓN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952500" y="3127058"/>
            <a:ext cx="1571625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647"/>
              </a:lnSpc>
              <a:buNone/>
            </a:pPr>
            <a:r>
              <a:rPr lang="en-US" sz="7200" b="1" dirty="0">
                <a:solidFill>
                  <a:srgbClr val="20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Controles Técnicos</a:t>
            </a:r>
            <a:endParaRPr lang="en-US" sz="7200" dirty="0"/>
          </a:p>
        </p:txBody>
      </p:sp>
      <p:sp>
        <p:nvSpPr>
          <p:cNvPr id="12" name="Text 9"/>
          <p:cNvSpPr/>
          <p:nvPr/>
        </p:nvSpPr>
        <p:spPr>
          <a:xfrm>
            <a:off x="952500" y="4353878"/>
            <a:ext cx="1571625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647"/>
              </a:lnSpc>
              <a:buNone/>
            </a:pPr>
            <a:r>
              <a:rPr lang="en-US" sz="7200" i="1" dirty="0">
                <a:solidFill>
                  <a:srgbClr val="C155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ISO/IEC 27001</a:t>
            </a:r>
            <a:endParaRPr lang="en-US" sz="7200" dirty="0"/>
          </a:p>
        </p:txBody>
      </p:sp>
      <p:sp>
        <p:nvSpPr>
          <p:cNvPr id="13" name="Text 10"/>
          <p:cNvSpPr/>
          <p:nvPr/>
        </p:nvSpPr>
        <p:spPr>
          <a:xfrm>
            <a:off x="952500" y="5694998"/>
            <a:ext cx="11772900" cy="1087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546"/>
              </a:lnSpc>
              <a:buNone/>
            </a:pPr>
            <a:r>
              <a:rPr lang="en-US" sz="2850" dirty="0">
                <a:solidFill>
                  <a:srgbClr val="5B5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Inteligente de Navegación Autónoma para Detección de Incidentes Viales.</a:t>
            </a:r>
            <a:endParaRPr lang="en-US" sz="2850" dirty="0"/>
          </a:p>
        </p:txBody>
      </p:sp>
      <p:sp>
        <p:nvSpPr>
          <p:cNvPr id="14" name="Text 11"/>
          <p:cNvSpPr/>
          <p:nvPr/>
        </p:nvSpPr>
        <p:spPr>
          <a:xfrm>
            <a:off x="952500" y="7087553"/>
            <a:ext cx="12753975" cy="830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541"/>
              </a:lnSpc>
              <a:buNone/>
            </a:pPr>
            <a:endParaRPr lang="en-US" sz="1950" dirty="0"/>
          </a:p>
        </p:txBody>
      </p:sp>
      <p:sp>
        <p:nvSpPr>
          <p:cNvPr id="15" name="Shape 12"/>
          <p:cNvSpPr/>
          <p:nvPr/>
        </p:nvSpPr>
        <p:spPr>
          <a:xfrm>
            <a:off x="952500" y="8961120"/>
            <a:ext cx="16383000" cy="9525"/>
          </a:xfrm>
          <a:prstGeom prst="rect">
            <a:avLst/>
          </a:prstGeom>
          <a:solidFill>
            <a:srgbClr val="A89F86"/>
          </a:solidFill>
          <a:ln/>
        </p:spPr>
      </p:sp>
      <p:sp>
        <p:nvSpPr>
          <p:cNvPr id="18" name="Text 15"/>
          <p:cNvSpPr/>
          <p:nvPr/>
        </p:nvSpPr>
        <p:spPr>
          <a:xfrm>
            <a:off x="952500" y="9300528"/>
            <a:ext cx="34325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01F2B"/>
                </a:solidFill>
                <a:latin typeface="Courier New" pitchFamily="34" charset="0"/>
                <a:cs typeface="Courier New" pitchFamily="34" charset="-120"/>
              </a:rPr>
              <a:t>Natalia Giraldo Amador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A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097" y="83820"/>
            <a:ext cx="18288000" cy="10287000"/>
          </a:xfrm>
          <a:prstGeom prst="rect">
            <a:avLst/>
          </a:prstGeom>
          <a:gradFill rotWithShape="1">
            <a:gsLst>
              <a:gs pos="0">
                <a:srgbClr val="D8CFB4">
                  <a:alpha val="100000"/>
                </a:srgbClr>
              </a:gs>
              <a:gs pos="100000">
                <a:srgbClr val="D8CFB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C15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ALCANCE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10640"/>
            <a:ext cx="962764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20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Aplicación restringida al SGSI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2270304" y="377190"/>
            <a:ext cx="5519261" cy="487680"/>
          </a:xfrm>
          <a:prstGeom prst="roundRect">
            <a:avLst>
              <a:gd name="adj" fmla="val 50000"/>
            </a:avLst>
          </a:prstGeom>
          <a:solidFill>
            <a:srgbClr val="F7ECE4"/>
          </a:solidFill>
          <a:ln w="7620">
            <a:solidFill>
              <a:srgbClr val="C155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50673" y="1691640"/>
            <a:ext cx="76200" cy="76200"/>
          </a:xfrm>
          <a:prstGeom prst="ellipse">
            <a:avLst/>
          </a:prstGeom>
          <a:solidFill>
            <a:srgbClr val="C1552E"/>
          </a:solidFill>
          <a:ln/>
        </p:spPr>
      </p:sp>
      <p:sp>
        <p:nvSpPr>
          <p:cNvPr id="7" name="Text 5"/>
          <p:cNvSpPr/>
          <p:nvPr/>
        </p:nvSpPr>
        <p:spPr>
          <a:xfrm>
            <a:off x="12384746" y="454841"/>
            <a:ext cx="540481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78" dirty="0">
                <a:solidFill>
                  <a:srgbClr val="C15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CUMPLIMIENTO DECLARADO: PARCIAL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2500" y="2682240"/>
            <a:ext cx="8001000" cy="6842760"/>
          </a:xfrm>
          <a:prstGeom prst="roundRect">
            <a:avLst>
              <a:gd name="adj" fmla="val 1392"/>
            </a:avLst>
          </a:prstGeom>
          <a:solidFill>
            <a:srgbClr val="F7F2E4"/>
          </a:solidFill>
          <a:ln w="7620">
            <a:solidFill>
              <a:srgbClr val="20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41120" y="3070860"/>
            <a:ext cx="2032278" cy="487680"/>
          </a:xfrm>
          <a:prstGeom prst="roundRect">
            <a:avLst>
              <a:gd name="adj" fmla="val 50000"/>
            </a:avLst>
          </a:prstGeom>
          <a:solidFill>
            <a:srgbClr val="E4EDE8"/>
          </a:solidFill>
          <a:ln w="7620">
            <a:solidFill>
              <a:srgbClr val="3C6B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8290" y="3276600"/>
            <a:ext cx="76200" cy="76200"/>
          </a:xfrm>
          <a:prstGeom prst="ellipse">
            <a:avLst/>
          </a:prstGeom>
          <a:solidFill>
            <a:srgbClr val="3C6B58"/>
          </a:solidFill>
          <a:ln/>
        </p:spPr>
      </p:sp>
      <p:sp>
        <p:nvSpPr>
          <p:cNvPr id="11" name="Text 9"/>
          <p:cNvSpPr/>
          <p:nvPr/>
        </p:nvSpPr>
        <p:spPr>
          <a:xfrm>
            <a:off x="1729740" y="3154680"/>
            <a:ext cx="156913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78" dirty="0">
                <a:solidFill>
                  <a:srgbClr val="3C6B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 APLICA</a:t>
            </a:r>
            <a:endParaRPr lang="en-US" sz="19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1120" y="3844290"/>
            <a:ext cx="189190" cy="2476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82710" y="3844290"/>
            <a:ext cx="757038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0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Integridad, disponibilidad y trazabilidad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682710" y="4225290"/>
            <a:ext cx="7088635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B5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información intercambiada entre la infraestructura y el vehículo (Canal V2I).</a:t>
            </a:r>
            <a:endParaRPr lang="en-US" sz="19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1120" y="5036820"/>
            <a:ext cx="188238" cy="2476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81758" y="5036820"/>
            <a:ext cx="75714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0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ejecuciones</a:t>
            </a:r>
            <a:endParaRPr lang="en-US" sz="2250" dirty="0"/>
          </a:p>
        </p:txBody>
      </p:sp>
      <p:sp>
        <p:nvSpPr>
          <p:cNvPr id="17" name="Text 13"/>
          <p:cNvSpPr/>
          <p:nvPr/>
        </p:nvSpPr>
        <p:spPr>
          <a:xfrm>
            <a:off x="1681758" y="5417820"/>
            <a:ext cx="7089616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B5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Bitácora reconstruible de cada ejecución del sistema de detección y replanificación.</a:t>
            </a:r>
            <a:endParaRPr lang="en-US" sz="19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1120" y="6229350"/>
            <a:ext cx="247650" cy="2476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41170" y="6229350"/>
            <a:ext cx="72876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0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por visión (CNN + LSTM)</a:t>
            </a:r>
            <a:endParaRPr lang="en-US" sz="2250" dirty="0"/>
          </a:p>
        </p:txBody>
      </p:sp>
      <p:sp>
        <p:nvSpPr>
          <p:cNvPr id="20" name="Text 15"/>
          <p:cNvSpPr/>
          <p:nvPr/>
        </p:nvSpPr>
        <p:spPr>
          <a:xfrm>
            <a:off x="1741170" y="6610350"/>
            <a:ext cx="728762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B5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Clasificación de incidentes sobre cámaras de infraestructura.</a:t>
            </a:r>
            <a:endParaRPr lang="en-US" sz="19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1120" y="7139940"/>
            <a:ext cx="247650" cy="2476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41170" y="7139940"/>
            <a:ext cx="654712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0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Replanificación de ruta (A*)</a:t>
            </a:r>
            <a:endParaRPr lang="en-US" sz="2250" dirty="0"/>
          </a:p>
        </p:txBody>
      </p:sp>
      <p:sp>
        <p:nvSpPr>
          <p:cNvPr id="23" name="Text 17"/>
          <p:cNvSpPr/>
          <p:nvPr/>
        </p:nvSpPr>
        <p:spPr>
          <a:xfrm>
            <a:off x="1741170" y="7520940"/>
            <a:ext cx="654712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B5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Decisión autónoma de navegación ante una alerta V2I.</a:t>
            </a:r>
            <a:endParaRPr lang="en-US" sz="1950" dirty="0"/>
          </a:p>
        </p:txBody>
      </p:sp>
      <p:sp>
        <p:nvSpPr>
          <p:cNvPr id="24" name="Shape 18"/>
          <p:cNvSpPr/>
          <p:nvPr/>
        </p:nvSpPr>
        <p:spPr>
          <a:xfrm>
            <a:off x="9334500" y="2682240"/>
            <a:ext cx="8001000" cy="6842760"/>
          </a:xfrm>
          <a:prstGeom prst="roundRect">
            <a:avLst>
              <a:gd name="adj" fmla="val 1392"/>
            </a:avLst>
          </a:prstGeom>
          <a:solidFill>
            <a:srgbClr val="E3DDC9"/>
          </a:solidFill>
          <a:ln w="7620">
            <a:solidFill>
              <a:srgbClr val="A89F86"/>
            </a:solidFill>
            <a:prstDash val="dash"/>
          </a:ln>
        </p:spPr>
      </p:sp>
      <p:sp>
        <p:nvSpPr>
          <p:cNvPr id="25" name="Shape 19"/>
          <p:cNvSpPr/>
          <p:nvPr/>
        </p:nvSpPr>
        <p:spPr>
          <a:xfrm>
            <a:off x="9723120" y="3070860"/>
            <a:ext cx="2032278" cy="487680"/>
          </a:xfrm>
          <a:prstGeom prst="roundRect">
            <a:avLst>
              <a:gd name="adj" fmla="val 50000"/>
            </a:avLst>
          </a:prstGeom>
          <a:solidFill>
            <a:srgbClr val="F1EAD9"/>
          </a:solidFill>
          <a:ln w="7620">
            <a:solidFill>
              <a:srgbClr val="A89F86"/>
            </a:solidFill>
            <a:prstDash val="dash"/>
          </a:ln>
        </p:spPr>
      </p:sp>
      <p:sp>
        <p:nvSpPr>
          <p:cNvPr id="26" name="Shape 20"/>
          <p:cNvSpPr/>
          <p:nvPr/>
        </p:nvSpPr>
        <p:spPr>
          <a:xfrm>
            <a:off x="9940290" y="3276600"/>
            <a:ext cx="76200" cy="76200"/>
          </a:xfrm>
          <a:prstGeom prst="ellipse">
            <a:avLst/>
          </a:prstGeom>
          <a:solidFill>
            <a:srgbClr val="8A8578"/>
          </a:solidFill>
          <a:ln/>
        </p:spPr>
      </p:sp>
      <p:sp>
        <p:nvSpPr>
          <p:cNvPr id="27" name="Text 21"/>
          <p:cNvSpPr/>
          <p:nvPr/>
        </p:nvSpPr>
        <p:spPr>
          <a:xfrm>
            <a:off x="10111740" y="3154680"/>
            <a:ext cx="156913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78" dirty="0">
                <a:solidFill>
                  <a:srgbClr val="8A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APLICA</a:t>
            </a:r>
            <a:endParaRPr lang="en-US" sz="195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23120" y="3844290"/>
            <a:ext cx="207169" cy="24765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082689" y="3844290"/>
            <a:ext cx="75506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datos personales</a:t>
            </a:r>
            <a:endParaRPr lang="en-US" sz="2250" dirty="0"/>
          </a:p>
        </p:txBody>
      </p:sp>
      <p:sp>
        <p:nvSpPr>
          <p:cNvPr id="30" name="Text 23"/>
          <p:cNvSpPr/>
          <p:nvPr/>
        </p:nvSpPr>
        <p:spPr>
          <a:xfrm>
            <a:off x="10082689" y="4225290"/>
            <a:ext cx="7070117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A85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aplica: el sistema no captura ni gestiona identidades reales de personas.</a:t>
            </a:r>
            <a:endParaRPr lang="en-US" sz="195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23120" y="5036820"/>
            <a:ext cx="156210" cy="24765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031731" y="5036820"/>
            <a:ext cx="76066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100% sintético</a:t>
            </a:r>
            <a:endParaRPr lang="en-US" sz="2250" dirty="0"/>
          </a:p>
        </p:txBody>
      </p:sp>
      <p:sp>
        <p:nvSpPr>
          <p:cNvPr id="33" name="Text 25"/>
          <p:cNvSpPr/>
          <p:nvPr/>
        </p:nvSpPr>
        <p:spPr>
          <a:xfrm>
            <a:off x="10031731" y="5417820"/>
            <a:ext cx="7122605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A85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46 cámaras de infraestructura procesan video completamente sintético, generado en simulación.</a:t>
            </a:r>
            <a:endParaRPr lang="en-US" sz="195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23120" y="6229350"/>
            <a:ext cx="247650" cy="24765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0123170" y="6229350"/>
            <a:ext cx="71041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físico de producción</a:t>
            </a:r>
            <a:endParaRPr lang="en-US" sz="2250" dirty="0"/>
          </a:p>
        </p:txBody>
      </p:sp>
      <p:sp>
        <p:nvSpPr>
          <p:cNvPr id="36" name="Text 27"/>
          <p:cNvSpPr/>
          <p:nvPr/>
        </p:nvSpPr>
        <p:spPr>
          <a:xfrm>
            <a:off x="10123170" y="6610350"/>
            <a:ext cx="710413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A85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vehículo y las cámaras existen solo en entorno simulado.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A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D8CFB4">
                  <a:alpha val="100000"/>
                </a:srgbClr>
              </a:gs>
              <a:gs pos="100000">
                <a:srgbClr val="D8CFB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C15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CONTROLES IMPLEMENTADOS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10640"/>
            <a:ext cx="180213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20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 mitigación de amenazas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682240"/>
            <a:ext cx="4953000" cy="6842760"/>
          </a:xfrm>
          <a:prstGeom prst="roundRect">
            <a:avLst>
              <a:gd name="adj" fmla="val 1923"/>
            </a:avLst>
          </a:prstGeom>
          <a:solidFill>
            <a:srgbClr val="F7F2E4"/>
          </a:solidFill>
          <a:ln w="7620">
            <a:solidFill>
              <a:srgbClr val="201F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03020" y="3032760"/>
            <a:ext cx="457200" cy="457200"/>
          </a:xfrm>
          <a:prstGeom prst="ellipse">
            <a:avLst/>
          </a:prstGeom>
          <a:solidFill>
            <a:srgbClr val="A6842F"/>
          </a:solidFill>
          <a:ln/>
        </p:spPr>
      </p:sp>
      <p:sp>
        <p:nvSpPr>
          <p:cNvPr id="7" name="Text 5"/>
          <p:cNvSpPr/>
          <p:nvPr/>
        </p:nvSpPr>
        <p:spPr>
          <a:xfrm>
            <a:off x="1264920" y="303276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7F2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303020" y="3680460"/>
            <a:ext cx="1211580" cy="430530"/>
          </a:xfrm>
          <a:prstGeom prst="roundRect">
            <a:avLst>
              <a:gd name="adj" fmla="val 50000"/>
            </a:avLst>
          </a:prstGeom>
          <a:ln w="7620">
            <a:solidFill>
              <a:srgbClr val="5B5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3735705"/>
            <a:ext cx="9677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B5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A.8.24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303020" y="4301490"/>
            <a:ext cx="4677156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Criptografía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303020" y="5017770"/>
            <a:ext cx="467715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15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 manipulación (A-02)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303020" y="5566410"/>
            <a:ext cx="4251960" cy="9525"/>
          </a:xfrm>
          <a:prstGeom prst="rect">
            <a:avLst/>
          </a:prstGeom>
          <a:solidFill>
            <a:srgbClr val="A89F86"/>
          </a:solidFill>
          <a:ln/>
        </p:spPr>
      </p:sp>
      <p:sp>
        <p:nvSpPr>
          <p:cNvPr id="13" name="Text 11"/>
          <p:cNvSpPr/>
          <p:nvPr/>
        </p:nvSpPr>
        <p:spPr>
          <a:xfrm>
            <a:off x="1303020" y="5802630"/>
            <a:ext cx="4379519" cy="2725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B5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tránsito de fotogramas hacia el detector ocurre dentro de un túnel SSH cifrado. Es un control que mitiga la amenaza A-02 (Manipulación), protegiendo el canal con independencia del origen del video.</a:t>
            </a:r>
            <a:endParaRPr lang="en-US" sz="19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4100" y="5951220"/>
            <a:ext cx="304800" cy="3048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667500" y="2682240"/>
            <a:ext cx="4953000" cy="6842760"/>
          </a:xfrm>
          <a:prstGeom prst="roundRect">
            <a:avLst>
              <a:gd name="adj" fmla="val 1923"/>
            </a:avLst>
          </a:prstGeom>
          <a:solidFill>
            <a:srgbClr val="F7F2E4"/>
          </a:solidFill>
          <a:ln w="7620">
            <a:solidFill>
              <a:srgbClr val="201F2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018020" y="3032760"/>
            <a:ext cx="457200" cy="457200"/>
          </a:xfrm>
          <a:prstGeom prst="ellipse">
            <a:avLst/>
          </a:prstGeom>
          <a:solidFill>
            <a:srgbClr val="B8432F"/>
          </a:solidFill>
          <a:ln/>
        </p:spPr>
      </p:sp>
      <p:sp>
        <p:nvSpPr>
          <p:cNvPr id="17" name="Text 14"/>
          <p:cNvSpPr/>
          <p:nvPr/>
        </p:nvSpPr>
        <p:spPr>
          <a:xfrm>
            <a:off x="6979920" y="303276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7F2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7018020" y="3680460"/>
            <a:ext cx="1211580" cy="430530"/>
          </a:xfrm>
          <a:prstGeom prst="roundRect">
            <a:avLst>
              <a:gd name="adj" fmla="val 50000"/>
            </a:avLst>
          </a:prstGeom>
          <a:ln w="7620">
            <a:solidFill>
              <a:srgbClr val="5B5A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78040" y="3735705"/>
            <a:ext cx="9677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B5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A.8.15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7018020" y="4301490"/>
            <a:ext cx="4677156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Registro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7018020" y="5017770"/>
            <a:ext cx="467715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15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 repudio (A-04)</a:t>
            </a:r>
            <a:endParaRPr lang="en-US" sz="1950" dirty="0"/>
          </a:p>
        </p:txBody>
      </p:sp>
      <p:sp>
        <p:nvSpPr>
          <p:cNvPr id="22" name="Shape 19"/>
          <p:cNvSpPr/>
          <p:nvPr/>
        </p:nvSpPr>
        <p:spPr>
          <a:xfrm>
            <a:off x="7018020" y="5566410"/>
            <a:ext cx="4251960" cy="9525"/>
          </a:xfrm>
          <a:prstGeom prst="rect">
            <a:avLst/>
          </a:prstGeom>
          <a:solidFill>
            <a:srgbClr val="A89F86"/>
          </a:solidFill>
          <a:ln/>
        </p:spPr>
      </p:sp>
      <p:sp>
        <p:nvSpPr>
          <p:cNvPr id="23" name="Text 20"/>
          <p:cNvSpPr/>
          <p:nvPr/>
        </p:nvSpPr>
        <p:spPr>
          <a:xfrm>
            <a:off x="7018020" y="5802630"/>
            <a:ext cx="4379519" cy="2341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B5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registra cámara de origen, tipo, confianza, fotograma e instantes de detección y difusión. Mitiga la amenaza A-04 (Repudio) y sostiene el único punto de control sobre el estado del mundo.</a:t>
            </a:r>
            <a:endParaRPr lang="en-US" sz="195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49100" y="5951220"/>
            <a:ext cx="304800" cy="30480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12382500" y="2682240"/>
            <a:ext cx="4953000" cy="6842760"/>
          </a:xfrm>
          <a:prstGeom prst="roundRect">
            <a:avLst>
              <a:gd name="adj" fmla="val 1923"/>
            </a:avLst>
          </a:prstGeom>
          <a:solidFill>
            <a:srgbClr val="F7F2E4"/>
          </a:solidFill>
          <a:ln w="7620">
            <a:solidFill>
              <a:srgbClr val="201F2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2733020" y="3032760"/>
            <a:ext cx="457200" cy="457200"/>
          </a:xfrm>
          <a:prstGeom prst="ellipse">
            <a:avLst/>
          </a:prstGeom>
          <a:solidFill>
            <a:srgbClr val="35618C"/>
          </a:solidFill>
          <a:ln/>
        </p:spPr>
      </p:sp>
      <p:sp>
        <p:nvSpPr>
          <p:cNvPr id="28" name="Text 24"/>
          <p:cNvSpPr/>
          <p:nvPr/>
        </p:nvSpPr>
        <p:spPr>
          <a:xfrm>
            <a:off x="12694920" y="303276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7F2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950" dirty="0"/>
          </a:p>
        </p:txBody>
      </p:sp>
      <p:sp>
        <p:nvSpPr>
          <p:cNvPr id="29" name="Shape 25"/>
          <p:cNvSpPr/>
          <p:nvPr/>
        </p:nvSpPr>
        <p:spPr>
          <a:xfrm>
            <a:off x="12733020" y="3680460"/>
            <a:ext cx="1211580" cy="430530"/>
          </a:xfrm>
          <a:prstGeom prst="roundRect">
            <a:avLst>
              <a:gd name="adj" fmla="val 50000"/>
            </a:avLst>
          </a:prstGeom>
          <a:ln w="7620">
            <a:solidFill>
              <a:srgbClr val="5B5A6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2893040" y="3735705"/>
            <a:ext cx="9677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B5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A.8.28</a:t>
            </a:r>
            <a:endParaRPr lang="en-US" sz="1950" dirty="0"/>
          </a:p>
        </p:txBody>
      </p:sp>
      <p:sp>
        <p:nvSpPr>
          <p:cNvPr id="31" name="Text 27"/>
          <p:cNvSpPr/>
          <p:nvPr/>
        </p:nvSpPr>
        <p:spPr>
          <a:xfrm>
            <a:off x="12733020" y="4301490"/>
            <a:ext cx="4677156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Codificación Segura</a:t>
            </a:r>
            <a:endParaRPr lang="en-US" sz="3000" dirty="0"/>
          </a:p>
        </p:txBody>
      </p:sp>
      <p:sp>
        <p:nvSpPr>
          <p:cNvPr id="32" name="Text 28"/>
          <p:cNvSpPr/>
          <p:nvPr/>
        </p:nvSpPr>
        <p:spPr>
          <a:xfrm>
            <a:off x="12733020" y="5017770"/>
            <a:ext cx="467715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15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Previene inyección (A-09)</a:t>
            </a:r>
            <a:endParaRPr lang="en-US" sz="1950" dirty="0"/>
          </a:p>
        </p:txBody>
      </p:sp>
      <p:sp>
        <p:nvSpPr>
          <p:cNvPr id="33" name="Shape 29"/>
          <p:cNvSpPr/>
          <p:nvPr/>
        </p:nvSpPr>
        <p:spPr>
          <a:xfrm>
            <a:off x="12733020" y="5566410"/>
            <a:ext cx="4251960" cy="9525"/>
          </a:xfrm>
          <a:prstGeom prst="rect">
            <a:avLst/>
          </a:prstGeom>
          <a:solidFill>
            <a:srgbClr val="A89F86"/>
          </a:solidFill>
          <a:ln/>
        </p:spPr>
      </p:sp>
      <p:sp>
        <p:nvSpPr>
          <p:cNvPr id="34" name="Text 30"/>
          <p:cNvSpPr/>
          <p:nvPr/>
        </p:nvSpPr>
        <p:spPr>
          <a:xfrm>
            <a:off x="12733020" y="5802630"/>
            <a:ext cx="4379519" cy="2725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dirty="0">
                <a:solidFill>
                  <a:srgbClr val="5B5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parámetros de la interfaz web se validan contra esquemas tipados y se pasan sin interpretación por el sistema operativo. Evita la inyección de comandos por diseño frente a la amenaza A-08 (OWASP A03:2021 Injection).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A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D8CFB4">
                  <a:alpha val="100000"/>
                </a:srgbClr>
              </a:gs>
              <a:gs pos="100000">
                <a:srgbClr val="D8CFB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C15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TRABAJO FUTURO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10640"/>
            <a:ext cx="180213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20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Cierre de brechas priorizadas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682240"/>
            <a:ext cx="5257800" cy="6842760"/>
          </a:xfrm>
          <a:prstGeom prst="roundRect">
            <a:avLst>
              <a:gd name="adj" fmla="val 1812"/>
            </a:avLst>
          </a:prstGeom>
          <a:solidFill>
            <a:srgbClr val="F7F2E4"/>
          </a:solidFill>
          <a:ln w="7620">
            <a:solidFill>
              <a:srgbClr val="201F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4061460"/>
            <a:ext cx="5242560" cy="9525"/>
          </a:xfrm>
          <a:prstGeom prst="rect">
            <a:avLst/>
          </a:prstGeom>
          <a:solidFill>
            <a:srgbClr val="A89F86"/>
          </a:solidFill>
          <a:ln/>
        </p:spPr>
      </p:sp>
      <p:sp>
        <p:nvSpPr>
          <p:cNvPr id="7" name="Shape 5"/>
          <p:cNvSpPr/>
          <p:nvPr/>
        </p:nvSpPr>
        <p:spPr>
          <a:xfrm>
            <a:off x="1264920" y="3120390"/>
            <a:ext cx="510540" cy="510540"/>
          </a:xfrm>
          <a:prstGeom prst="roundRect">
            <a:avLst>
              <a:gd name="adj" fmla="val 14925"/>
            </a:avLst>
          </a:prstGeom>
          <a:ln w="7620">
            <a:solidFill>
              <a:srgbClr val="201F2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6365" y="3251835"/>
            <a:ext cx="247650" cy="2476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7860" y="2994660"/>
            <a:ext cx="241074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B5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A.8.5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927860" y="3314700"/>
            <a:ext cx="2410742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0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Autenticación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1264920" y="4373880"/>
            <a:ext cx="4771949" cy="4083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2800" dirty="0">
                <a:solidFill>
                  <a:srgbClr val="5B5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 es la razón explícita de la calificación "Parcial". Se requiere formalizar la firma de mensajes en el canal V2I (amenaza A-01) y añadir control de acceso a la interfaz web (</a:t>
            </a:r>
            <a:r>
              <a:rPr lang="en-US" sz="2800" dirty="0" err="1">
                <a:solidFill>
                  <a:srgbClr val="5B5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amenaza</a:t>
            </a:r>
            <a:r>
              <a:rPr lang="en-US" sz="2800" dirty="0">
                <a:solidFill>
                  <a:srgbClr val="5B5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A-10), actualmente un riesgo residual.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515100" y="2682240"/>
            <a:ext cx="5257800" cy="6842760"/>
          </a:xfrm>
          <a:prstGeom prst="roundRect">
            <a:avLst>
              <a:gd name="adj" fmla="val 1812"/>
            </a:avLst>
          </a:prstGeom>
          <a:solidFill>
            <a:srgbClr val="F7F2E4"/>
          </a:solidFill>
          <a:ln w="7620">
            <a:solidFill>
              <a:srgbClr val="201F2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22720" y="4061460"/>
            <a:ext cx="5242560" cy="9525"/>
          </a:xfrm>
          <a:prstGeom prst="rect">
            <a:avLst/>
          </a:prstGeom>
          <a:solidFill>
            <a:srgbClr val="A89F86"/>
          </a:solidFill>
          <a:ln/>
        </p:spPr>
      </p:sp>
      <p:sp>
        <p:nvSpPr>
          <p:cNvPr id="14" name="Shape 11"/>
          <p:cNvSpPr/>
          <p:nvPr/>
        </p:nvSpPr>
        <p:spPr>
          <a:xfrm>
            <a:off x="6827520" y="3120390"/>
            <a:ext cx="510540" cy="510540"/>
          </a:xfrm>
          <a:prstGeom prst="roundRect">
            <a:avLst>
              <a:gd name="adj" fmla="val 14925"/>
            </a:avLst>
          </a:prstGeom>
          <a:ln w="7620">
            <a:solidFill>
              <a:srgbClr val="201F2B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58965" y="3251835"/>
            <a:ext cx="247650" cy="2476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90460" y="2994660"/>
            <a:ext cx="179322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B5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A.8.16</a:t>
            </a:r>
            <a:endParaRPr lang="en-US" sz="1950" dirty="0"/>
          </a:p>
        </p:txBody>
      </p:sp>
      <p:sp>
        <p:nvSpPr>
          <p:cNvPr id="17" name="Text 13"/>
          <p:cNvSpPr/>
          <p:nvPr/>
        </p:nvSpPr>
        <p:spPr>
          <a:xfrm>
            <a:off x="7490460" y="3314700"/>
            <a:ext cx="2105644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0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Monitoreo</a:t>
            </a:r>
            <a:endParaRPr lang="en-US" sz="2550" dirty="0"/>
          </a:p>
        </p:txBody>
      </p:sp>
      <p:sp>
        <p:nvSpPr>
          <p:cNvPr id="18" name="Text 14"/>
          <p:cNvSpPr/>
          <p:nvPr/>
        </p:nvSpPr>
        <p:spPr>
          <a:xfrm>
            <a:off x="6827520" y="4373880"/>
            <a:ext cx="4771949" cy="407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2600" dirty="0">
                <a:solidFill>
                  <a:srgbClr val="5B5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Pasar del registro pasivo a la reacción en el momento. Se requiere alertamiento activo para detectar en tiempo real la saturación del hilo de inferencia (amenaza A-06), la cual produce un descarte silencioso de secuencias.</a:t>
            </a:r>
            <a:endParaRPr lang="en-US" sz="2600" dirty="0"/>
          </a:p>
        </p:txBody>
      </p:sp>
      <p:sp>
        <p:nvSpPr>
          <p:cNvPr id="19" name="Shape 15"/>
          <p:cNvSpPr/>
          <p:nvPr/>
        </p:nvSpPr>
        <p:spPr>
          <a:xfrm>
            <a:off x="12077700" y="2682240"/>
            <a:ext cx="5257800" cy="6842760"/>
          </a:xfrm>
          <a:prstGeom prst="roundRect">
            <a:avLst>
              <a:gd name="adj" fmla="val 1812"/>
            </a:avLst>
          </a:prstGeom>
          <a:solidFill>
            <a:srgbClr val="F7F2E4"/>
          </a:solidFill>
          <a:ln w="7620">
            <a:solidFill>
              <a:srgbClr val="201F2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2085320" y="4061460"/>
            <a:ext cx="5242560" cy="9525"/>
          </a:xfrm>
          <a:prstGeom prst="rect">
            <a:avLst/>
          </a:prstGeom>
          <a:solidFill>
            <a:srgbClr val="A89F86"/>
          </a:solidFill>
          <a:ln/>
        </p:spPr>
      </p:sp>
      <p:sp>
        <p:nvSpPr>
          <p:cNvPr id="21" name="Shape 17"/>
          <p:cNvSpPr/>
          <p:nvPr/>
        </p:nvSpPr>
        <p:spPr>
          <a:xfrm>
            <a:off x="12390120" y="3120390"/>
            <a:ext cx="510540" cy="510540"/>
          </a:xfrm>
          <a:prstGeom prst="roundRect">
            <a:avLst>
              <a:gd name="adj" fmla="val 14925"/>
            </a:avLst>
          </a:prstGeom>
          <a:ln w="7620">
            <a:solidFill>
              <a:srgbClr val="201F2B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21565" y="3251835"/>
            <a:ext cx="247650" cy="24765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053060" y="2994660"/>
            <a:ext cx="373116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B5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A.8.29</a:t>
            </a:r>
            <a:endParaRPr lang="en-US" sz="1950" dirty="0"/>
          </a:p>
        </p:txBody>
      </p:sp>
      <p:sp>
        <p:nvSpPr>
          <p:cNvPr id="24" name="Text 19"/>
          <p:cNvSpPr/>
          <p:nvPr/>
        </p:nvSpPr>
        <p:spPr>
          <a:xfrm>
            <a:off x="13053060" y="3314700"/>
            <a:ext cx="3731169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0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Pruebas de Seguridad</a:t>
            </a:r>
            <a:endParaRPr lang="en-US" sz="2550" dirty="0"/>
          </a:p>
        </p:txBody>
      </p:sp>
      <p:sp>
        <p:nvSpPr>
          <p:cNvPr id="25" name="Text 20"/>
          <p:cNvSpPr/>
          <p:nvPr/>
        </p:nvSpPr>
        <p:spPr>
          <a:xfrm>
            <a:off x="12390120" y="4373880"/>
            <a:ext cx="4771949" cy="4083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2600" dirty="0">
                <a:solidFill>
                  <a:srgbClr val="5B5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Ejecutar pruebas de penetración o análisis estático (SAST) que verifiquen empíricamente que controles como la validación de esquemas (A-09) resisten los vectores de ataque reales, superando el modelado STRIDE teórico.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D8CFB4">
                  <a:alpha val="100000"/>
                </a:srgbClr>
              </a:gs>
              <a:gs pos="100000">
                <a:srgbClr val="D8CFB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419" dirty="0"/>
          </a:p>
        </p:txBody>
      </p:sp>
      <p:sp>
        <p:nvSpPr>
          <p:cNvPr id="3" name="Text 1"/>
          <p:cNvSpPr/>
          <p:nvPr/>
        </p:nvSpPr>
        <p:spPr>
          <a:xfrm>
            <a:off x="952500" y="857250"/>
            <a:ext cx="180213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10640"/>
            <a:ext cx="180213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 err="1">
                <a:solidFill>
                  <a:srgbClr val="201F2B"/>
                </a:solidFill>
                <a:latin typeface="Georgia" pitchFamily="34" charset="0"/>
              </a:rPr>
              <a:t>Declaración</a:t>
            </a:r>
            <a:r>
              <a:rPr lang="en-US" sz="4800" b="1" dirty="0">
                <a:solidFill>
                  <a:srgbClr val="201F2B"/>
                </a:solidFill>
                <a:latin typeface="Georgia" pitchFamily="34" charset="0"/>
              </a:rPr>
              <a:t> de </a:t>
            </a:r>
            <a:r>
              <a:rPr lang="en-US" sz="4800" b="1" dirty="0" err="1">
                <a:solidFill>
                  <a:srgbClr val="201F2B"/>
                </a:solidFill>
                <a:latin typeface="Georgia" pitchFamily="34" charset="0"/>
              </a:rPr>
              <a:t>uso</a:t>
            </a:r>
            <a:r>
              <a:rPr lang="en-US" sz="4800" b="1" dirty="0">
                <a:solidFill>
                  <a:srgbClr val="201F2B"/>
                </a:solidFill>
                <a:latin typeface="Georgia" pitchFamily="34" charset="0"/>
              </a:rPr>
              <a:t> de IA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682240"/>
            <a:ext cx="9151620" cy="6842760"/>
          </a:xfrm>
          <a:prstGeom prst="roundRect">
            <a:avLst>
              <a:gd name="adj" fmla="val 1812"/>
            </a:avLst>
          </a:prstGeom>
          <a:solidFill>
            <a:srgbClr val="F7F2E4"/>
          </a:solidFill>
          <a:ln w="7620">
            <a:solidFill>
              <a:srgbClr val="201F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32560" y="3337560"/>
            <a:ext cx="8214360" cy="586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7200" dirty="0">
                <a:solidFill>
                  <a:srgbClr val="5B5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</a:t>
            </a:r>
            <a:r>
              <a:rPr lang="en-US" sz="7200" dirty="0" err="1">
                <a:solidFill>
                  <a:srgbClr val="5B5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usó</a:t>
            </a:r>
            <a:r>
              <a:rPr lang="en-US" sz="7200" dirty="0">
                <a:solidFill>
                  <a:srgbClr val="5B5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IA </a:t>
            </a:r>
            <a:r>
              <a:rPr lang="en-US" sz="7200" dirty="0" err="1">
                <a:solidFill>
                  <a:srgbClr val="5B5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generativa</a:t>
            </a:r>
            <a:r>
              <a:rPr lang="en-US" sz="7200" dirty="0">
                <a:solidFill>
                  <a:srgbClr val="5B5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para la </a:t>
            </a:r>
            <a:r>
              <a:rPr lang="en-US" sz="7200" dirty="0" err="1">
                <a:solidFill>
                  <a:srgbClr val="5B5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visualización</a:t>
            </a:r>
            <a:r>
              <a:rPr lang="en-US" sz="7200" dirty="0">
                <a:solidFill>
                  <a:srgbClr val="5B5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</a:t>
            </a:r>
            <a:r>
              <a:rPr lang="en-US" sz="7200" dirty="0" err="1">
                <a:solidFill>
                  <a:srgbClr val="5B5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</a:t>
            </a:r>
            <a:r>
              <a:rPr lang="en-US" sz="7200" dirty="0">
                <a:solidFill>
                  <a:srgbClr val="5B5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7200" dirty="0" err="1">
                <a:solidFill>
                  <a:srgbClr val="5B5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presentación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868942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566</Words>
  <Application>Microsoft Office PowerPoint</Application>
  <PresentationFormat>Personalizado</PresentationFormat>
  <Paragraphs>66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Courier New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Natalia Giraldo</cp:lastModifiedBy>
  <cp:revision>5</cp:revision>
  <dcterms:created xsi:type="dcterms:W3CDTF">2026-08-30T16:05:46Z</dcterms:created>
  <dcterms:modified xsi:type="dcterms:W3CDTF">2026-08-31T02:43:53Z</dcterms:modified>
</cp:coreProperties>
</file>